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66" r:id="rId3"/>
    <p:sldId id="258" r:id="rId4"/>
    <p:sldId id="259" r:id="rId5"/>
    <p:sldId id="260" r:id="rId6"/>
    <p:sldId id="261" r:id="rId7"/>
    <p:sldId id="263" r:id="rId8"/>
    <p:sldId id="264" r:id="rId9"/>
    <p:sldId id="262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2B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5" d="100"/>
          <a:sy n="75" d="100"/>
        </p:scale>
        <p:origin x="4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D2E343-A4DB-41D7-A772-74B334AA094B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0326D1-CCBA-4B80-A942-3AF79D9E2E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7665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7C9AE6-7C06-4D81-2F65-1112138D01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18D5638-48BE-CD77-975B-C61E532523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C61ED03-D561-D423-966A-404F0201E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90F75-9647-4207-AED4-5B1DAF5E307F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F30332E-E15D-773B-7CF6-63BB493EC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B8AF10-4375-80A5-07F1-BC9095310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BD9A3-58FA-40AD-BF0A-9DE63BA327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2195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C9C0DA-0371-AB55-BB85-3387C288A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5CA826-E870-D946-04D0-C0E2E9F74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6A99D7E-10EB-CC57-CEE0-97E13E4B0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90F75-9647-4207-AED4-5B1DAF5E307F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7008F8E-6001-8D43-B323-1A8B8D6DF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65F7C5-A88C-5D17-FD63-5DD28D99A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BD9A3-58FA-40AD-BF0A-9DE63BA327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8702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124DF7-BC08-BD32-FCA5-7CCDC7C21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B46D7E-F777-3AFB-0045-5C6E29789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E95F238-5209-0254-B425-C30A3C416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90F75-9647-4207-AED4-5B1DAF5E307F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B625D97-E3DB-927C-6109-1E2952C20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B0255E1-6360-0C89-B1D9-6EF888AB3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BD9A3-58FA-40AD-BF0A-9DE63BA327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27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882765-53D4-8E23-08E8-257585AEB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9DAB80-C23F-3F94-155C-9E904BC64A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1C10CCD-73F5-9B96-C4AB-4E2932A8A2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1D1B6E8-8E80-5490-84B9-9A517635F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90F75-9647-4207-AED4-5B1DAF5E307F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865E39C-8CF3-C9A4-6480-F49414B91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753D697-177B-05A6-50EC-6F22C4F1B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BD9A3-58FA-40AD-BF0A-9DE63BA327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0914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575265-3D56-6847-7ED4-6857CA612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3CBA187-2DF6-BC95-594A-49C13BE07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2F46148-B97C-FF42-1C7B-0448339B1B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46C340A-119A-F894-36B9-C9E48432F1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90CE98D-91FD-0144-7B4B-433EE60F93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59AFB48-42AC-88FD-83DD-27DF5EDD5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90F75-9647-4207-AED4-5B1DAF5E307F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16794D5-BEE6-9C3A-27D2-FA0DCDEF0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2C22BC8-EDDE-5537-9E4B-319352F46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BD9A3-58FA-40AD-BF0A-9DE63BA327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5897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A2A1C1-63E3-6D83-F668-4636A2DE0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ADCD02D-5106-230A-F94B-020FDA43D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90F75-9647-4207-AED4-5B1DAF5E307F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AB61D31-A937-2002-063A-24F8FAD45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B4C6B1F-C63C-7E39-7D89-B21E8E4E7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BD9A3-58FA-40AD-BF0A-9DE63BA327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6227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6A84746-CEA5-B2D1-0DEA-C4E34108B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90F75-9647-4207-AED4-5B1DAF5E307F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962EAED-AD43-2C69-63DD-248888733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5FD52E2-6DE2-414F-DE74-56BEF8404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BD9A3-58FA-40AD-BF0A-9DE63BA327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8678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3F660B-7659-115D-E70E-C17326EA0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2B7374-0608-2852-D2E4-C21AFA093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B93B1CA-774A-7890-C3FA-60CE33F817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3E661E9-E2B9-E6BE-5296-F2166A9C2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90F75-9647-4207-AED4-5B1DAF5E307F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0B5EE84-2615-D4AB-439A-75CD88C9A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06A89B-0E6A-90A2-B51C-40641BC2A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BD9A3-58FA-40AD-BF0A-9DE63BA327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2226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E08AD-CC25-E8D0-5A91-EB7F63BA0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FC4FCFC-DE11-8114-54ED-392330E1AC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EA622F2-04CF-EB41-4B3C-343ABBBC62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B7123F9-DA68-53AC-BF3D-A85D383AD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90F75-9647-4207-AED4-5B1DAF5E307F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80B9BA1-DF29-A0B0-F5D9-5A31B18DC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D1C650D-3A30-7AF7-8302-778D2FFAF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BD9A3-58FA-40AD-BF0A-9DE63BA327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6161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D0AAA5-6FAF-0803-2CB8-323D6EDF9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8AE886A-EE18-0EDB-BB34-7C10FF2802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C2F5A52-EAD9-1C4A-D115-D65C930C8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90F75-9647-4207-AED4-5B1DAF5E307F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AB8C286-50C9-E1EB-8662-94F6145A3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118C31C-8CE6-0229-807D-1B256A05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BD9A3-58FA-40AD-BF0A-9DE63BA327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708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972FFB1-0D9D-8D77-A8E8-CAD9CBD8CB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B801E8A-E44F-D266-D835-998F174B1D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022CFE7-6929-3529-48BA-60347F3E7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90F75-9647-4207-AED4-5B1DAF5E307F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183D79-4869-A9C0-2B1F-2BF6C296A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B97428-2791-CA32-461F-3CA539C37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BD9A3-58FA-40AD-BF0A-9DE63BA327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15908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4361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A3206F-F47D-583C-C2B0-731B8B998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3C7B135-B126-70D5-963F-BFFB14EF0B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2F82489-CE56-B235-8979-2DDEC88DAE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290F75-9647-4207-AED4-5B1DAF5E307F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53A58D-B469-A9F7-8354-0E89D0324B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8DCCB1B-ADA0-0E11-8B16-AA79845724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EBD9A3-58FA-40AD-BF0A-9DE63BA327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5320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jangoproject.com/" TargetMode="External"/><Relationship Id="rId2" Type="http://schemas.openxmlformats.org/officeDocument/2006/relationships/hyperlink" Target="https://core.telegram.org/bots/api" TargetMode="Externa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github.com/eternnoir/pyTelegramBotAP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125216" y="2410460"/>
            <a:ext cx="1121664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 Telegram Bot</a:t>
            </a:r>
            <a:endParaRPr lang="en-US" sz="6133" dirty="0"/>
          </a:p>
        </p:txBody>
      </p:sp>
      <p:sp>
        <p:nvSpPr>
          <p:cNvPr id="6" name="Text 4"/>
          <p:cNvSpPr/>
          <p:nvPr/>
        </p:nvSpPr>
        <p:spPr>
          <a:xfrm>
            <a:off x="3393440" y="3629660"/>
            <a:ext cx="1121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Ordering System with Django Backend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8493760" y="6167120"/>
            <a:ext cx="1121664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>
                <a:solidFill>
                  <a:srgbClr val="CC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 ·  Programming in Python</a:t>
            </a:r>
            <a:endParaRPr lang="en-US" sz="1600" dirty="0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5437D17F-F9C3-1A09-6FE5-C3870B583494}"/>
              </a:ext>
            </a:extLst>
          </p:cNvPr>
          <p:cNvSpPr/>
          <p:nvPr/>
        </p:nvSpPr>
        <p:spPr>
          <a:xfrm>
            <a:off x="4922520" y="311404"/>
            <a:ext cx="2346960" cy="2099056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scene3d>
            <a:camera prst="orthographicFront">
              <a:rot lat="0" lon="20399991" rev="0"/>
            </a:camera>
            <a:lightRig rig="threePt" dir="t"/>
          </a:scene3d>
          <a:sp3d z="698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flatTx/>
          </a:bodyPr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F07EEC08-84BD-59CB-6A14-7E275CB88B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97000"/>
                    </a14:imgEffect>
                  </a14:imgLayer>
                </a14:imgProps>
              </a:ext>
            </a:extLst>
          </a:blip>
          <a:srcRect t="-30" b="4704"/>
          <a:stretch>
            <a:fillRect/>
          </a:stretch>
        </p:blipFill>
        <p:spPr>
          <a:xfrm>
            <a:off x="8016137" y="70613"/>
            <a:ext cx="3466493" cy="586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09600" y="3657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4267" dirty="0"/>
          </a:p>
        </p:txBody>
      </p:sp>
      <p:sp>
        <p:nvSpPr>
          <p:cNvPr id="4" name="Shape 2"/>
          <p:cNvSpPr/>
          <p:nvPr/>
        </p:nvSpPr>
        <p:spPr>
          <a:xfrm>
            <a:off x="487680" y="1584960"/>
            <a:ext cx="3535680" cy="4389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87680" y="1584960"/>
            <a:ext cx="35356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7680" y="1767840"/>
            <a:ext cx="353568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87680" y="2804160"/>
            <a:ext cx="353568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33984" y="3474720"/>
            <a:ext cx="3243072" cy="2316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4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inline-keyboard bot built with pyTeleBot library. Users order food through a chat interface.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67200" y="2773680"/>
            <a:ext cx="35356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67200" y="2731008"/>
            <a:ext cx="35356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67200" y="2804160"/>
            <a:ext cx="353568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Backend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413504" y="3474720"/>
            <a:ext cx="3243072" cy="2316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4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project stores and manages orders in an SQLite database. Admin panel for order management.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46720" y="3279648"/>
            <a:ext cx="3535680" cy="26944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0" y="3279648"/>
            <a:ext cx="35356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22336" y="3474720"/>
            <a:ext cx="353568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193024" y="3474720"/>
            <a:ext cx="3243072" cy="2316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4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and Django run in the same Python process, sharing the ORM layer to read/write orders in real time.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4">
            <a:extLst>
              <a:ext uri="{FF2B5EF4-FFF2-40B4-BE49-F238E27FC236}">
                <a16:creationId xmlns:a16="http://schemas.microsoft.com/office/drawing/2014/main" id="{EF811DDA-D19E-2F76-9B14-A79B00EA570E}"/>
              </a:ext>
            </a:extLst>
          </p:cNvPr>
          <p:cNvSpPr/>
          <p:nvPr/>
        </p:nvSpPr>
        <p:spPr>
          <a:xfrm>
            <a:off x="6254638" y="2169471"/>
            <a:ext cx="5242204" cy="4365185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" name="Text 0"/>
          <p:cNvSpPr/>
          <p:nvPr/>
        </p:nvSpPr>
        <p:spPr>
          <a:xfrm>
            <a:off x="609600" y="341376"/>
            <a:ext cx="1097280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</a:t>
            </a:r>
            <a:endParaRPr lang="en-US" sz="4267" dirty="0"/>
          </a:p>
        </p:txBody>
      </p:sp>
      <p:sp>
        <p:nvSpPr>
          <p:cNvPr id="5" name="Text 3"/>
          <p:cNvSpPr/>
          <p:nvPr/>
        </p:nvSpPr>
        <p:spPr>
          <a:xfrm>
            <a:off x="487680" y="760333"/>
            <a:ext cx="10485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67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Develop a working Telegram chat-bot that automates food ordering for a cafe — from browsing the menu to placing and tracking orders.</a:t>
            </a:r>
            <a:endParaRPr lang="en-US" sz="2267" dirty="0"/>
          </a:p>
        </p:txBody>
      </p:sp>
      <p:sp>
        <p:nvSpPr>
          <p:cNvPr id="6" name="Shape 4"/>
          <p:cNvSpPr/>
          <p:nvPr/>
        </p:nvSpPr>
        <p:spPr>
          <a:xfrm>
            <a:off x="487680" y="2087594"/>
            <a:ext cx="2702560" cy="266728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7680" y="2118074"/>
            <a:ext cx="2702560" cy="523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7680" y="3474720"/>
            <a:ext cx="353568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3467" dirty="0"/>
          </a:p>
        </p:txBody>
      </p:sp>
      <p:sp>
        <p:nvSpPr>
          <p:cNvPr id="9" name="Text 7"/>
          <p:cNvSpPr/>
          <p:nvPr/>
        </p:nvSpPr>
        <p:spPr>
          <a:xfrm>
            <a:off x="487680" y="2851261"/>
            <a:ext cx="2702560" cy="371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UI</a:t>
            </a:r>
            <a:endParaRPr lang="en-US" sz="1867" dirty="0"/>
          </a:p>
        </p:txBody>
      </p:sp>
      <p:sp>
        <p:nvSpPr>
          <p:cNvPr id="10" name="Text 8"/>
          <p:cNvSpPr/>
          <p:nvPr/>
        </p:nvSpPr>
        <p:spPr>
          <a:xfrm>
            <a:off x="633984" y="3399901"/>
            <a:ext cx="2478900" cy="10624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4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keyboard navigation — no typing needed for most actions.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7890" y="4474450"/>
            <a:ext cx="2722670" cy="227179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7570" y="4491280"/>
            <a:ext cx="2722670" cy="45719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67200" y="3474720"/>
            <a:ext cx="353568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3467" dirty="0"/>
          </a:p>
        </p:txBody>
      </p:sp>
      <p:sp>
        <p:nvSpPr>
          <p:cNvPr id="14" name="Text 12"/>
          <p:cNvSpPr/>
          <p:nvPr/>
        </p:nvSpPr>
        <p:spPr>
          <a:xfrm>
            <a:off x="467570" y="4986527"/>
            <a:ext cx="2722670" cy="34982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Persistence</a:t>
            </a:r>
            <a:endParaRPr lang="en-US" sz="1867" dirty="0"/>
          </a:p>
        </p:txBody>
      </p:sp>
      <p:sp>
        <p:nvSpPr>
          <p:cNvPr id="15" name="Text 13"/>
          <p:cNvSpPr/>
          <p:nvPr/>
        </p:nvSpPr>
        <p:spPr>
          <a:xfrm>
            <a:off x="613874" y="5535167"/>
            <a:ext cx="2497346" cy="9994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4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orders saved to SQLite via Django ORM, visible in Admin panel.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356724" y="2170374"/>
            <a:ext cx="2580640" cy="2328199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56724" y="2123752"/>
            <a:ext cx="2580640" cy="45719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56724" y="2831539"/>
            <a:ext cx="2580640" cy="3338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Handling</a:t>
            </a:r>
            <a:endParaRPr lang="en-US" sz="1867" dirty="0"/>
          </a:p>
        </p:txBody>
      </p:sp>
      <p:sp>
        <p:nvSpPr>
          <p:cNvPr id="20" name="Text 18"/>
          <p:cNvSpPr/>
          <p:nvPr/>
        </p:nvSpPr>
        <p:spPr>
          <a:xfrm>
            <a:off x="3503028" y="3380180"/>
            <a:ext cx="2367070" cy="953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4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error handling: empty input, bad address, DB errors, unknown commands.</a:t>
            </a:r>
            <a:endParaRPr lang="en-US" sz="1600" dirty="0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519A9DAA-8614-12D1-D354-B3A7D29625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9" t="1" r="29218" b="144"/>
          <a:stretch>
            <a:fillRect/>
          </a:stretch>
        </p:blipFill>
        <p:spPr>
          <a:xfrm>
            <a:off x="6394176" y="2417014"/>
            <a:ext cx="5040000" cy="3924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0"/>
              </a:prstClr>
            </a:outerShdw>
          </a:effectLst>
          <a:scene3d>
            <a:camera prst="orthographicFront"/>
            <a:lightRig rig="threePt" dir="t"/>
          </a:scene3d>
          <a:sp3d prstMaterial="matte"/>
        </p:spPr>
      </p:pic>
      <p:sp>
        <p:nvSpPr>
          <p:cNvPr id="28" name="Shape 5">
            <a:extLst>
              <a:ext uri="{FF2B5EF4-FFF2-40B4-BE49-F238E27FC236}">
                <a16:creationId xmlns:a16="http://schemas.microsoft.com/office/drawing/2014/main" id="{7A90928A-CFD7-0909-5AFE-FDE0D9FB33AF}"/>
              </a:ext>
            </a:extLst>
          </p:cNvPr>
          <p:cNvSpPr/>
          <p:nvPr/>
        </p:nvSpPr>
        <p:spPr>
          <a:xfrm>
            <a:off x="6254638" y="2139441"/>
            <a:ext cx="5242204" cy="51817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2">
            <a:extLst>
              <a:ext uri="{FF2B5EF4-FFF2-40B4-BE49-F238E27FC236}">
                <a16:creationId xmlns:a16="http://schemas.microsoft.com/office/drawing/2014/main" id="{5F927F33-5661-F752-9CB1-624AAE0BC4A6}"/>
              </a:ext>
            </a:extLst>
          </p:cNvPr>
          <p:cNvSpPr/>
          <p:nvPr/>
        </p:nvSpPr>
        <p:spPr>
          <a:xfrm>
            <a:off x="701963" y="4448223"/>
            <a:ext cx="10972800" cy="95097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">
            <a:extLst>
              <a:ext uri="{FF2B5EF4-FFF2-40B4-BE49-F238E27FC236}">
                <a16:creationId xmlns:a16="http://schemas.microsoft.com/office/drawing/2014/main" id="{881B7202-41E6-DACE-A0DA-3708DD453A34}"/>
              </a:ext>
            </a:extLst>
          </p:cNvPr>
          <p:cNvSpPr/>
          <p:nvPr/>
        </p:nvSpPr>
        <p:spPr>
          <a:xfrm>
            <a:off x="725052" y="3476577"/>
            <a:ext cx="10972800" cy="95097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B2402E9A-2778-138A-12CC-74BB48C8B6D0}"/>
              </a:ext>
            </a:extLst>
          </p:cNvPr>
          <p:cNvSpPr/>
          <p:nvPr/>
        </p:nvSpPr>
        <p:spPr>
          <a:xfrm>
            <a:off x="701963" y="2428247"/>
            <a:ext cx="10972800" cy="95097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" name="Text 0"/>
          <p:cNvSpPr/>
          <p:nvPr/>
        </p:nvSpPr>
        <p:spPr>
          <a:xfrm>
            <a:off x="609600" y="341376"/>
            <a:ext cx="1097280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4267" dirty="0"/>
          </a:p>
        </p:txBody>
      </p:sp>
      <p:sp>
        <p:nvSpPr>
          <p:cNvPr id="3" name="Shape 1"/>
          <p:cNvSpPr/>
          <p:nvPr/>
        </p:nvSpPr>
        <p:spPr>
          <a:xfrm>
            <a:off x="609600" y="1219200"/>
            <a:ext cx="10972800" cy="487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00" y="1463040"/>
            <a:ext cx="10972800" cy="95097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9600" y="1463040"/>
            <a:ext cx="85344" cy="9509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3440" y="1463040"/>
            <a:ext cx="280416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Python 3</a:t>
            </a:r>
            <a:endParaRPr lang="en-US" sz="1867" dirty="0"/>
          </a:p>
        </p:txBody>
      </p:sp>
      <p:sp>
        <p:nvSpPr>
          <p:cNvPr id="7" name="Text 5"/>
          <p:cNvSpPr/>
          <p:nvPr/>
        </p:nvSpPr>
        <p:spPr>
          <a:xfrm>
            <a:off x="3779520" y="1463040"/>
            <a:ext cx="304800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language</a:t>
            </a:r>
            <a:endParaRPr lang="en-US" sz="1733" dirty="0"/>
          </a:p>
        </p:txBody>
      </p:sp>
      <p:sp>
        <p:nvSpPr>
          <p:cNvPr id="8" name="Text 6"/>
          <p:cNvSpPr/>
          <p:nvPr/>
        </p:nvSpPr>
        <p:spPr>
          <a:xfrm>
            <a:off x="6949440" y="1463040"/>
            <a:ext cx="4511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4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logic, state machine, data processing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600" y="2474976"/>
            <a:ext cx="85344" cy="9509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3440" y="2474976"/>
            <a:ext cx="280416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pyTelegramBotAPI</a:t>
            </a:r>
            <a:endParaRPr lang="en-US" sz="1867" dirty="0"/>
          </a:p>
        </p:txBody>
      </p:sp>
      <p:sp>
        <p:nvSpPr>
          <p:cNvPr id="12" name="Text 10"/>
          <p:cNvSpPr/>
          <p:nvPr/>
        </p:nvSpPr>
        <p:spPr>
          <a:xfrm>
            <a:off x="3779520" y="2474976"/>
            <a:ext cx="304800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interface</a:t>
            </a:r>
            <a:endParaRPr lang="en-US" sz="1733" dirty="0"/>
          </a:p>
        </p:txBody>
      </p:sp>
      <p:sp>
        <p:nvSpPr>
          <p:cNvPr id="13" name="Text 11"/>
          <p:cNvSpPr/>
          <p:nvPr/>
        </p:nvSpPr>
        <p:spPr>
          <a:xfrm>
            <a:off x="6949440" y="2474976"/>
            <a:ext cx="4511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4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Handlers, inline keyboards, callback queries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9600" y="3486912"/>
            <a:ext cx="10972800" cy="95097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9600" y="3486912"/>
            <a:ext cx="85344" cy="9509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3440" y="3486912"/>
            <a:ext cx="280416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Django 5</a:t>
            </a:r>
            <a:endParaRPr lang="en-US" sz="1867" dirty="0"/>
          </a:p>
        </p:txBody>
      </p:sp>
      <p:sp>
        <p:nvSpPr>
          <p:cNvPr id="17" name="Text 15"/>
          <p:cNvSpPr/>
          <p:nvPr/>
        </p:nvSpPr>
        <p:spPr>
          <a:xfrm>
            <a:off x="3779520" y="3486912"/>
            <a:ext cx="304800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framework / ORM</a:t>
            </a:r>
            <a:endParaRPr lang="en-US" sz="1733" dirty="0"/>
          </a:p>
        </p:txBody>
      </p:sp>
      <p:sp>
        <p:nvSpPr>
          <p:cNvPr id="18" name="Text 16"/>
          <p:cNvSpPr/>
          <p:nvPr/>
        </p:nvSpPr>
        <p:spPr>
          <a:xfrm>
            <a:off x="6949440" y="3486912"/>
            <a:ext cx="4511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4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Models, Admin panel, database migrations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9600" y="4498848"/>
            <a:ext cx="85344" cy="9509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3440" y="4498848"/>
            <a:ext cx="280416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SQLite</a:t>
            </a:r>
            <a:endParaRPr lang="en-US" sz="1867" dirty="0"/>
          </a:p>
        </p:txBody>
      </p:sp>
      <p:sp>
        <p:nvSpPr>
          <p:cNvPr id="22" name="Text 20"/>
          <p:cNvSpPr/>
          <p:nvPr/>
        </p:nvSpPr>
        <p:spPr>
          <a:xfrm>
            <a:off x="3779520" y="4498848"/>
            <a:ext cx="304800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733" dirty="0"/>
          </a:p>
        </p:txBody>
      </p:sp>
      <p:sp>
        <p:nvSpPr>
          <p:cNvPr id="23" name="Text 21"/>
          <p:cNvSpPr/>
          <p:nvPr/>
        </p:nvSpPr>
        <p:spPr>
          <a:xfrm>
            <a:off x="6949440" y="4498848"/>
            <a:ext cx="4511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4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order storage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09600" y="5510784"/>
            <a:ext cx="10972800" cy="95097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9600" y="5510784"/>
            <a:ext cx="85344" cy="9509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3440" y="5510784"/>
            <a:ext cx="280416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k-KZ" sz="1867" b="1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867" b="1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json</a:t>
            </a:r>
            <a:endParaRPr lang="en-US" sz="1867" dirty="0"/>
          </a:p>
        </p:txBody>
      </p:sp>
      <p:sp>
        <p:nvSpPr>
          <p:cNvPr id="27" name="Text 25"/>
          <p:cNvSpPr/>
          <p:nvPr/>
        </p:nvSpPr>
        <p:spPr>
          <a:xfrm>
            <a:off x="3779520" y="5510784"/>
            <a:ext cx="304800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serialization</a:t>
            </a:r>
            <a:endParaRPr lang="en-US" sz="1733" dirty="0"/>
          </a:p>
        </p:txBody>
      </p:sp>
      <p:sp>
        <p:nvSpPr>
          <p:cNvPr id="28" name="Text 26"/>
          <p:cNvSpPr/>
          <p:nvPr/>
        </p:nvSpPr>
        <p:spPr>
          <a:xfrm>
            <a:off x="6949440" y="5510784"/>
            <a:ext cx="4511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4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items stored as JSON in TextField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41376"/>
            <a:ext cx="1097280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Project Structure</a:t>
            </a:r>
            <a:endParaRPr lang="en-US" sz="4267" dirty="0"/>
          </a:p>
        </p:txBody>
      </p:sp>
      <p:sp>
        <p:nvSpPr>
          <p:cNvPr id="3" name="Shape 1"/>
          <p:cNvSpPr/>
          <p:nvPr/>
        </p:nvSpPr>
        <p:spPr>
          <a:xfrm>
            <a:off x="609600" y="1219200"/>
            <a:ext cx="10972800" cy="487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3840" y="1402080"/>
            <a:ext cx="2133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43840" y="1402080"/>
            <a:ext cx="213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33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533" dirty="0"/>
          </a:p>
          <a:p>
            <a:pPr algn="ctr"/>
            <a:r>
              <a:rPr lang="en-US" sz="1533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(Telegram App)</a:t>
            </a:r>
            <a:endParaRPr lang="en-US" sz="1533" dirty="0"/>
          </a:p>
        </p:txBody>
      </p:sp>
      <p:sp>
        <p:nvSpPr>
          <p:cNvPr id="6" name="Shape 4"/>
          <p:cNvSpPr/>
          <p:nvPr/>
        </p:nvSpPr>
        <p:spPr>
          <a:xfrm>
            <a:off x="2377440" y="1950720"/>
            <a:ext cx="487680" cy="0"/>
          </a:xfrm>
          <a:prstGeom prst="line">
            <a:avLst/>
          </a:prstGeom>
          <a:noFill/>
          <a:ln w="31750">
            <a:solidFill>
              <a:srgbClr val="F4A2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21280" y="1402080"/>
            <a:ext cx="2133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21280" y="1402080"/>
            <a:ext cx="213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33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1533" dirty="0"/>
          </a:p>
          <a:p>
            <a:pPr algn="ctr"/>
            <a:r>
              <a:rPr lang="en-US" sz="1533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Server</a:t>
            </a:r>
            <a:endParaRPr lang="en-US" sz="1533" dirty="0"/>
          </a:p>
        </p:txBody>
      </p:sp>
      <p:sp>
        <p:nvSpPr>
          <p:cNvPr id="9" name="Shape 7"/>
          <p:cNvSpPr/>
          <p:nvPr/>
        </p:nvSpPr>
        <p:spPr>
          <a:xfrm>
            <a:off x="4754880" y="1950720"/>
            <a:ext cx="487680" cy="0"/>
          </a:xfrm>
          <a:prstGeom prst="line">
            <a:avLst/>
          </a:prstGeom>
          <a:noFill/>
          <a:ln w="31750">
            <a:solidFill>
              <a:srgbClr val="F4A2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98720" y="1402080"/>
            <a:ext cx="2133600" cy="1097280"/>
          </a:xfrm>
          <a:prstGeom prst="rect">
            <a:avLst/>
          </a:prstGeom>
          <a:solidFill>
            <a:srgbClr val="028090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98720" y="1402080"/>
            <a:ext cx="213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bot.py</a:t>
            </a:r>
            <a:endParaRPr lang="en-US" sz="1533" dirty="0"/>
          </a:p>
          <a:p>
            <a:pPr algn="ctr"/>
            <a:r>
              <a:rPr lang="en-US" sz="15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(pyTeleBot)</a:t>
            </a:r>
            <a:endParaRPr lang="en-US" sz="1533" dirty="0"/>
          </a:p>
        </p:txBody>
      </p:sp>
      <p:sp>
        <p:nvSpPr>
          <p:cNvPr id="12" name="Shape 10"/>
          <p:cNvSpPr/>
          <p:nvPr/>
        </p:nvSpPr>
        <p:spPr>
          <a:xfrm>
            <a:off x="7132320" y="1950720"/>
            <a:ext cx="487680" cy="0"/>
          </a:xfrm>
          <a:prstGeom prst="line">
            <a:avLst/>
          </a:prstGeom>
          <a:noFill/>
          <a:ln w="31750">
            <a:solidFill>
              <a:srgbClr val="F4A2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76160" y="1402080"/>
            <a:ext cx="2133600" cy="1097280"/>
          </a:xfrm>
          <a:prstGeom prst="rect">
            <a:avLst/>
          </a:prstGeom>
          <a:solidFill>
            <a:srgbClr val="028090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76160" y="1402080"/>
            <a:ext cx="213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ORM</a:t>
            </a:r>
            <a:endParaRPr lang="en-US" sz="1533" dirty="0"/>
          </a:p>
          <a:p>
            <a:pPr algn="ctr"/>
            <a:r>
              <a:rPr lang="en-US" sz="15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(Models)</a:t>
            </a:r>
            <a:endParaRPr lang="en-US" sz="1533" dirty="0"/>
          </a:p>
        </p:txBody>
      </p:sp>
      <p:sp>
        <p:nvSpPr>
          <p:cNvPr id="15" name="Shape 13"/>
          <p:cNvSpPr/>
          <p:nvPr/>
        </p:nvSpPr>
        <p:spPr>
          <a:xfrm>
            <a:off x="9509760" y="1950720"/>
            <a:ext cx="487680" cy="0"/>
          </a:xfrm>
          <a:prstGeom prst="line">
            <a:avLst/>
          </a:prstGeom>
          <a:noFill/>
          <a:ln w="31750">
            <a:solidFill>
              <a:srgbClr val="F4A2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92640" y="1402080"/>
            <a:ext cx="21336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92640" y="1402080"/>
            <a:ext cx="213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533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DB</a:t>
            </a:r>
            <a:endParaRPr lang="en-US" sz="1533" dirty="0"/>
          </a:p>
          <a:p>
            <a:pPr algn="ctr"/>
            <a:r>
              <a:rPr lang="en-US" sz="1533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db.sqlite3</a:t>
            </a:r>
            <a:endParaRPr lang="en-US" sz="1533" dirty="0"/>
          </a:p>
        </p:txBody>
      </p:sp>
      <p:sp>
        <p:nvSpPr>
          <p:cNvPr id="18" name="Shape 16"/>
          <p:cNvSpPr/>
          <p:nvPr/>
        </p:nvSpPr>
        <p:spPr>
          <a:xfrm>
            <a:off x="7376160" y="2865120"/>
            <a:ext cx="2133600" cy="853440"/>
          </a:xfrm>
          <a:prstGeom prst="rect">
            <a:avLst/>
          </a:prstGeom>
          <a:solidFill>
            <a:srgbClr val="F4A261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76160" y="2865120"/>
            <a:ext cx="21336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Admin</a:t>
            </a:r>
            <a:endParaRPr lang="en-US" sz="1467" dirty="0"/>
          </a:p>
          <a:p>
            <a:pPr algn="ctr"/>
            <a:r>
              <a:rPr lang="en-US" sz="14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(order status)</a:t>
            </a:r>
            <a:endParaRPr lang="en-US" sz="1467" dirty="0"/>
          </a:p>
        </p:txBody>
      </p:sp>
      <p:sp>
        <p:nvSpPr>
          <p:cNvPr id="20" name="Shape 18"/>
          <p:cNvSpPr/>
          <p:nvPr/>
        </p:nvSpPr>
        <p:spPr>
          <a:xfrm>
            <a:off x="8442960" y="2499360"/>
            <a:ext cx="0" cy="365760"/>
          </a:xfrm>
          <a:prstGeom prst="line">
            <a:avLst/>
          </a:prstGeom>
          <a:noFill/>
          <a:ln w="19050">
            <a:solidFill>
              <a:srgbClr val="F4A261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609600" y="3901440"/>
            <a:ext cx="54864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1867" dirty="0"/>
          </a:p>
        </p:txBody>
      </p:sp>
      <p:sp>
        <p:nvSpPr>
          <p:cNvPr id="22" name="Shape 20"/>
          <p:cNvSpPr/>
          <p:nvPr/>
        </p:nvSpPr>
        <p:spPr>
          <a:xfrm>
            <a:off x="609600" y="4450080"/>
            <a:ext cx="5364480" cy="2133600"/>
          </a:xfrm>
          <a:prstGeom prst="rect">
            <a:avLst/>
          </a:prstGeom>
          <a:solidFill>
            <a:srgbClr val="0D2020"/>
          </a:solidFill>
          <a:ln/>
        </p:spPr>
      </p:sp>
      <p:sp>
        <p:nvSpPr>
          <p:cNvPr id="23" name="Text 21"/>
          <p:cNvSpPr/>
          <p:nvPr/>
        </p:nvSpPr>
        <p:spPr>
          <a:xfrm>
            <a:off x="792480" y="4511040"/>
            <a:ext cx="4998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project/</a:t>
            </a:r>
            <a:endParaRPr lang="en-US" sz="1400" dirty="0"/>
          </a:p>
          <a:p>
            <a:r>
              <a:rPr lang="en-US" sz="14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bot.py           # all bot logic</a:t>
            </a:r>
            <a:endParaRPr lang="en-US" sz="1400" dirty="0"/>
          </a:p>
          <a:p>
            <a:r>
              <a:rPr lang="en-US" sz="14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requirements.txt</a:t>
            </a:r>
            <a:endParaRPr lang="en-US" sz="1400" dirty="0"/>
          </a:p>
          <a:p>
            <a:r>
              <a:rPr lang="en-US" sz="14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README.md</a:t>
            </a:r>
            <a:endParaRPr lang="en-US" sz="1400" dirty="0"/>
          </a:p>
          <a:p>
            <a:r>
              <a:rPr lang="en-US" sz="14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cafe_app1/</a:t>
            </a:r>
            <a:endParaRPr lang="en-US" sz="1400" dirty="0"/>
          </a:p>
          <a:p>
            <a:r>
              <a:rPr lang="en-US" sz="14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├── app/models.py  # Order model</a:t>
            </a:r>
            <a:endParaRPr lang="en-US" sz="1400" dirty="0"/>
          </a:p>
          <a:p>
            <a:r>
              <a:rPr lang="en-US" sz="14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└── db.sqlite3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39840" y="3901440"/>
            <a:ext cx="5242560" cy="26822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39840" y="3901440"/>
            <a:ext cx="5242560" cy="609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61760" y="3998976"/>
            <a:ext cx="499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Request Handlers</a:t>
            </a:r>
            <a:endParaRPr lang="en-US" sz="1733" dirty="0"/>
          </a:p>
        </p:txBody>
      </p:sp>
      <p:sp>
        <p:nvSpPr>
          <p:cNvPr id="27" name="Text 25"/>
          <p:cNvSpPr/>
          <p:nvPr/>
        </p:nvSpPr>
        <p:spPr>
          <a:xfrm>
            <a:off x="6522720" y="4572000"/>
            <a:ext cx="48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dirty="0">
                <a:solidFill>
                  <a:srgbClr val="4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/start  /help  /info</a:t>
            </a:r>
            <a:endParaRPr lang="en-US" sz="1533" dirty="0"/>
          </a:p>
        </p:txBody>
      </p:sp>
      <p:sp>
        <p:nvSpPr>
          <p:cNvPr id="28" name="Text 26"/>
          <p:cNvSpPr/>
          <p:nvPr/>
        </p:nvSpPr>
        <p:spPr>
          <a:xfrm>
            <a:off x="6522720" y="4937760"/>
            <a:ext cx="48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dirty="0">
                <a:solidFill>
                  <a:srgbClr val="4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main · menu · cart · info · help</a:t>
            </a:r>
            <a:endParaRPr lang="en-US" sz="1533" dirty="0"/>
          </a:p>
        </p:txBody>
      </p:sp>
      <p:sp>
        <p:nvSpPr>
          <p:cNvPr id="29" name="Text 27"/>
          <p:cNvSpPr/>
          <p:nvPr/>
        </p:nvSpPr>
        <p:spPr>
          <a:xfrm>
            <a:off x="6522720" y="5303520"/>
            <a:ext cx="48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dirty="0">
                <a:solidFill>
                  <a:srgbClr val="4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add_{item} · remove_{item}</a:t>
            </a:r>
            <a:endParaRPr lang="en-US" sz="1533" dirty="0"/>
          </a:p>
        </p:txBody>
      </p:sp>
      <p:sp>
        <p:nvSpPr>
          <p:cNvPr id="30" name="Text 28"/>
          <p:cNvSpPr/>
          <p:nvPr/>
        </p:nvSpPr>
        <p:spPr>
          <a:xfrm>
            <a:off x="6522720" y="5669280"/>
            <a:ext cx="48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dirty="0">
                <a:solidFill>
                  <a:srgbClr val="4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clear_cart · address · orders</a:t>
            </a:r>
            <a:endParaRPr lang="en-US" sz="1533" dirty="0"/>
          </a:p>
        </p:txBody>
      </p:sp>
      <p:sp>
        <p:nvSpPr>
          <p:cNvPr id="31" name="Text 29"/>
          <p:cNvSpPr/>
          <p:nvPr/>
        </p:nvSpPr>
        <p:spPr>
          <a:xfrm>
            <a:off x="6522720" y="6035040"/>
            <a:ext cx="48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dirty="0">
                <a:solidFill>
                  <a:srgbClr val="4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Unknown text → error reply</a:t>
            </a:r>
            <a:endParaRPr lang="en-US" sz="153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41376"/>
            <a:ext cx="1097280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Demo</a:t>
            </a:r>
            <a:endParaRPr lang="en-US" sz="4267" dirty="0"/>
          </a:p>
        </p:txBody>
      </p:sp>
      <p:sp>
        <p:nvSpPr>
          <p:cNvPr id="3" name="Shape 1"/>
          <p:cNvSpPr/>
          <p:nvPr/>
        </p:nvSpPr>
        <p:spPr>
          <a:xfrm>
            <a:off x="609600" y="1219200"/>
            <a:ext cx="10972800" cy="487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6720" y="1402080"/>
            <a:ext cx="2560320" cy="5120640"/>
          </a:xfrm>
          <a:prstGeom prst="rect">
            <a:avLst/>
          </a:prstGeom>
          <a:solidFill>
            <a:srgbClr val="E8F5F5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6720" y="1402080"/>
            <a:ext cx="256032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6720" y="14020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Menu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97024"/>
            <a:ext cx="2316480" cy="5852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097024"/>
            <a:ext cx="2316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Welcome to our Cafe!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852928"/>
            <a:ext cx="2316480" cy="58521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852928"/>
            <a:ext cx="2316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📋 Menu ]  [ 🛒 Cart 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608832"/>
            <a:ext cx="2316480" cy="58521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608832"/>
            <a:ext cx="2316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🧾 My Orders ]  [ ℹ️ About ]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364736"/>
            <a:ext cx="2316480" cy="58521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364736"/>
            <a:ext cx="2316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     ❓ Help      ]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1402080"/>
            <a:ext cx="2560320" cy="5120640"/>
          </a:xfrm>
          <a:prstGeom prst="rect">
            <a:avLst/>
          </a:prstGeom>
          <a:solidFill>
            <a:srgbClr val="E8F5F5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1402080"/>
            <a:ext cx="256032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14020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Menu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413760" y="2097024"/>
            <a:ext cx="2316480" cy="5852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3413760" y="2097024"/>
            <a:ext cx="2316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🍽 Choose items: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13760" y="2852928"/>
            <a:ext cx="2316480" cy="58521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3413760" y="2852928"/>
            <a:ext cx="2316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➕ Burger — 2000₸ ]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13760" y="3608832"/>
            <a:ext cx="2316480" cy="58521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3413760" y="3608832"/>
            <a:ext cx="2316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➕ Pizza  — 3000₸ ]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13760" y="4364736"/>
            <a:ext cx="2316480" cy="58521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3413760" y="4364736"/>
            <a:ext cx="2316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➕ Cola   — 800₸  ]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413760" y="5120640"/>
            <a:ext cx="2316480" cy="58521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3413760" y="5120640"/>
            <a:ext cx="2316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➕ Fries  — 1200₸ ]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56960" y="1402080"/>
            <a:ext cx="2560320" cy="5120640"/>
          </a:xfrm>
          <a:prstGeom prst="rect">
            <a:avLst/>
          </a:prstGeom>
          <a:solidFill>
            <a:srgbClr val="E8F5F5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56960" y="1402080"/>
            <a:ext cx="256032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56960" y="14020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78880" y="2097024"/>
            <a:ext cx="2316480" cy="5852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6278880" y="2097024"/>
            <a:ext cx="2316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Your Cart: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78880" y="2852928"/>
            <a:ext cx="2316480" cy="5852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6278880" y="2852928"/>
            <a:ext cx="2316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Burger x1 = 2000₸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78880" y="3608832"/>
            <a:ext cx="2316480" cy="5852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6278880" y="3608832"/>
            <a:ext cx="2316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Cola x2 = 1600₸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78880" y="4364736"/>
            <a:ext cx="2316480" cy="5852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6278880" y="4364736"/>
            <a:ext cx="2316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Total: 3600₸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278880" y="5730240"/>
            <a:ext cx="2316480" cy="585216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0" name="Text 38"/>
          <p:cNvSpPr/>
          <p:nvPr/>
        </p:nvSpPr>
        <p:spPr>
          <a:xfrm>
            <a:off x="6278880" y="5730240"/>
            <a:ext cx="2316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📍 Place Order ]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022080" y="1402080"/>
            <a:ext cx="2560320" cy="5120640"/>
          </a:xfrm>
          <a:prstGeom prst="rect">
            <a:avLst/>
          </a:prstGeom>
          <a:solidFill>
            <a:srgbClr val="E8F5F5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022080" y="1402080"/>
            <a:ext cx="256032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022080" y="14020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Placed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9144000" y="2097024"/>
            <a:ext cx="2316480" cy="5852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9144000" y="2097024"/>
            <a:ext cx="2316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Order #N placed!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144000" y="2852928"/>
            <a:ext cx="2316480" cy="5852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9144000" y="2852928"/>
            <a:ext cx="2316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Burger x1, Cola x2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9144000" y="3608832"/>
            <a:ext cx="2316480" cy="5852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9144000" y="3608832"/>
            <a:ext cx="2316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Total: 3600₸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9144000" y="4364736"/>
            <a:ext cx="2316480" cy="5852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9144000" y="4364736"/>
            <a:ext cx="2316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Manasa 34/1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9144000" y="5120640"/>
            <a:ext cx="2316480" cy="5852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9144000" y="5120640"/>
            <a:ext cx="2316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Status: Pending</a:t>
            </a:r>
            <a:endParaRPr lang="en-US" sz="1200" dirty="0"/>
          </a:p>
        </p:txBody>
      </p:sp>
      <p:sp>
        <p:nvSpPr>
          <p:cNvPr id="54" name="Shape 35">
            <a:extLst>
              <a:ext uri="{FF2B5EF4-FFF2-40B4-BE49-F238E27FC236}">
                <a16:creationId xmlns:a16="http://schemas.microsoft.com/office/drawing/2014/main" id="{2FAE63FD-79EC-3D5B-AB22-B7C5C87B44B7}"/>
              </a:ext>
            </a:extLst>
          </p:cNvPr>
          <p:cNvSpPr/>
          <p:nvPr/>
        </p:nvSpPr>
        <p:spPr>
          <a:xfrm>
            <a:off x="6278880" y="5047488"/>
            <a:ext cx="2316480" cy="5852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36">
            <a:extLst>
              <a:ext uri="{FF2B5EF4-FFF2-40B4-BE49-F238E27FC236}">
                <a16:creationId xmlns:a16="http://schemas.microsoft.com/office/drawing/2014/main" id="{A10BCBC6-963C-CB4B-0A4D-F093CBE44298}"/>
              </a:ext>
            </a:extLst>
          </p:cNvPr>
          <p:cNvSpPr/>
          <p:nvPr/>
        </p:nvSpPr>
        <p:spPr>
          <a:xfrm>
            <a:off x="6278880" y="5047488"/>
            <a:ext cx="2316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/>
              <a:t>❌️Remove (Item)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657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— Order</a:t>
            </a:r>
            <a:endParaRPr lang="en-US" sz="4267" dirty="0"/>
          </a:p>
        </p:txBody>
      </p:sp>
      <p:sp>
        <p:nvSpPr>
          <p:cNvPr id="3" name="Shape 1"/>
          <p:cNvSpPr/>
          <p:nvPr/>
        </p:nvSpPr>
        <p:spPr>
          <a:xfrm>
            <a:off x="609600" y="1280160"/>
            <a:ext cx="10972800" cy="487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00" y="1524000"/>
            <a:ext cx="5486400" cy="4632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9600" y="1524000"/>
            <a:ext cx="5486400" cy="609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600" y="1524000"/>
            <a:ext cx="54864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 (app/models.py)</a:t>
            </a:r>
            <a:endParaRPr lang="en-US" sz="1867" dirty="0"/>
          </a:p>
        </p:txBody>
      </p:sp>
      <p:sp>
        <p:nvSpPr>
          <p:cNvPr id="7" name="Shape 5"/>
          <p:cNvSpPr/>
          <p:nvPr/>
        </p:nvSpPr>
        <p:spPr>
          <a:xfrm>
            <a:off x="609600" y="2255520"/>
            <a:ext cx="5486400" cy="463296"/>
          </a:xfrm>
          <a:prstGeom prst="rect">
            <a:avLst/>
          </a:prstGeom>
          <a:solidFill>
            <a:srgbClr val="F0FAFA"/>
          </a:solidFill>
          <a:ln w="12700">
            <a:solidFill>
              <a:srgbClr val="CCE5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255520"/>
            <a:ext cx="146304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194560" y="2255520"/>
            <a:ext cx="17068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AutoField</a:t>
            </a:r>
            <a:endParaRPr lang="en-US" sz="1467" dirty="0"/>
          </a:p>
        </p:txBody>
      </p:sp>
      <p:sp>
        <p:nvSpPr>
          <p:cNvPr id="10" name="Text 8"/>
          <p:cNvSpPr/>
          <p:nvPr/>
        </p:nvSpPr>
        <p:spPr>
          <a:xfrm>
            <a:off x="3901440" y="2255520"/>
            <a:ext cx="207264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4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 (auto)</a:t>
            </a:r>
            <a:endParaRPr lang="en-US" sz="1467" dirty="0"/>
          </a:p>
        </p:txBody>
      </p:sp>
      <p:sp>
        <p:nvSpPr>
          <p:cNvPr id="11" name="Shape 9"/>
          <p:cNvSpPr/>
          <p:nvPr/>
        </p:nvSpPr>
        <p:spPr>
          <a:xfrm>
            <a:off x="609600" y="2718816"/>
            <a:ext cx="5486400" cy="463296"/>
          </a:xfrm>
          <a:prstGeom prst="rect">
            <a:avLst/>
          </a:prstGeom>
          <a:solidFill>
            <a:srgbClr val="FFFFFF"/>
          </a:solidFill>
          <a:ln w="12700">
            <a:solidFill>
              <a:srgbClr val="CCE5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718816"/>
            <a:ext cx="146304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94560" y="2718816"/>
            <a:ext cx="17068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IntegerField</a:t>
            </a:r>
            <a:endParaRPr lang="en-US" sz="1467" dirty="0"/>
          </a:p>
        </p:txBody>
      </p:sp>
      <p:sp>
        <p:nvSpPr>
          <p:cNvPr id="14" name="Text 12"/>
          <p:cNvSpPr/>
          <p:nvPr/>
        </p:nvSpPr>
        <p:spPr>
          <a:xfrm>
            <a:off x="3901440" y="2718816"/>
            <a:ext cx="207264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4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user ID</a:t>
            </a:r>
            <a:endParaRPr lang="en-US" sz="1467" dirty="0"/>
          </a:p>
        </p:txBody>
      </p:sp>
      <p:sp>
        <p:nvSpPr>
          <p:cNvPr id="15" name="Shape 13"/>
          <p:cNvSpPr/>
          <p:nvPr/>
        </p:nvSpPr>
        <p:spPr>
          <a:xfrm>
            <a:off x="609600" y="3182112"/>
            <a:ext cx="5486400" cy="463296"/>
          </a:xfrm>
          <a:prstGeom prst="rect">
            <a:avLst/>
          </a:prstGeom>
          <a:solidFill>
            <a:srgbClr val="F0FAFA"/>
          </a:solidFill>
          <a:ln w="12700">
            <a:solidFill>
              <a:srgbClr val="CCE5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182112"/>
            <a:ext cx="146304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194560" y="3182112"/>
            <a:ext cx="17068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CharField</a:t>
            </a:r>
            <a:endParaRPr lang="en-US" sz="1467" dirty="0"/>
          </a:p>
        </p:txBody>
      </p:sp>
      <p:sp>
        <p:nvSpPr>
          <p:cNvPr id="18" name="Text 16"/>
          <p:cNvSpPr/>
          <p:nvPr/>
        </p:nvSpPr>
        <p:spPr>
          <a:xfrm>
            <a:off x="3901440" y="3182112"/>
            <a:ext cx="207264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4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username</a:t>
            </a:r>
            <a:endParaRPr lang="en-US" sz="1467" dirty="0"/>
          </a:p>
        </p:txBody>
      </p:sp>
      <p:sp>
        <p:nvSpPr>
          <p:cNvPr id="19" name="Shape 17"/>
          <p:cNvSpPr/>
          <p:nvPr/>
        </p:nvSpPr>
        <p:spPr>
          <a:xfrm>
            <a:off x="609600" y="3645408"/>
            <a:ext cx="5486400" cy="463296"/>
          </a:xfrm>
          <a:prstGeom prst="rect">
            <a:avLst/>
          </a:prstGeom>
          <a:solidFill>
            <a:srgbClr val="FFFFFF"/>
          </a:solidFill>
          <a:ln w="12700">
            <a:solidFill>
              <a:srgbClr val="CCE5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645408"/>
            <a:ext cx="146304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194560" y="3645408"/>
            <a:ext cx="17068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TextField</a:t>
            </a:r>
            <a:endParaRPr lang="en-US" sz="1467" dirty="0"/>
          </a:p>
        </p:txBody>
      </p:sp>
      <p:sp>
        <p:nvSpPr>
          <p:cNvPr id="22" name="Text 20"/>
          <p:cNvSpPr/>
          <p:nvPr/>
        </p:nvSpPr>
        <p:spPr>
          <a:xfrm>
            <a:off x="3901440" y="3645408"/>
            <a:ext cx="207264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4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JSON: {item: qty, ...}</a:t>
            </a:r>
            <a:endParaRPr lang="en-US" sz="1467" dirty="0"/>
          </a:p>
        </p:txBody>
      </p:sp>
      <p:sp>
        <p:nvSpPr>
          <p:cNvPr id="23" name="Shape 21"/>
          <p:cNvSpPr/>
          <p:nvPr/>
        </p:nvSpPr>
        <p:spPr>
          <a:xfrm>
            <a:off x="609600" y="4108704"/>
            <a:ext cx="5486400" cy="463296"/>
          </a:xfrm>
          <a:prstGeom prst="rect">
            <a:avLst/>
          </a:prstGeom>
          <a:solidFill>
            <a:srgbClr val="F0FAFA"/>
          </a:solidFill>
          <a:ln w="12700">
            <a:solidFill>
              <a:srgbClr val="CCE5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108704"/>
            <a:ext cx="146304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194560" y="4108704"/>
            <a:ext cx="17068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IntegerField</a:t>
            </a:r>
            <a:endParaRPr lang="en-US" sz="1467" dirty="0"/>
          </a:p>
        </p:txBody>
      </p:sp>
      <p:sp>
        <p:nvSpPr>
          <p:cNvPr id="26" name="Text 24"/>
          <p:cNvSpPr/>
          <p:nvPr/>
        </p:nvSpPr>
        <p:spPr>
          <a:xfrm>
            <a:off x="3901440" y="4108704"/>
            <a:ext cx="207264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4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price in tenge</a:t>
            </a:r>
            <a:endParaRPr lang="en-US" sz="1467" dirty="0"/>
          </a:p>
        </p:txBody>
      </p:sp>
      <p:sp>
        <p:nvSpPr>
          <p:cNvPr id="27" name="Shape 25"/>
          <p:cNvSpPr/>
          <p:nvPr/>
        </p:nvSpPr>
        <p:spPr>
          <a:xfrm>
            <a:off x="609600" y="4572000"/>
            <a:ext cx="5486400" cy="463296"/>
          </a:xfrm>
          <a:prstGeom prst="rect">
            <a:avLst/>
          </a:prstGeom>
          <a:solidFill>
            <a:srgbClr val="FFFFFF"/>
          </a:solidFill>
          <a:ln w="12700">
            <a:solidFill>
              <a:srgbClr val="CCE5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572000"/>
            <a:ext cx="146304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address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194560" y="4572000"/>
            <a:ext cx="17068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TextField</a:t>
            </a:r>
            <a:endParaRPr lang="en-US" sz="1467" dirty="0"/>
          </a:p>
        </p:txBody>
      </p:sp>
      <p:sp>
        <p:nvSpPr>
          <p:cNvPr id="30" name="Text 28"/>
          <p:cNvSpPr/>
          <p:nvPr/>
        </p:nvSpPr>
        <p:spPr>
          <a:xfrm>
            <a:off x="3901440" y="4572000"/>
            <a:ext cx="207264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4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address</a:t>
            </a:r>
            <a:endParaRPr lang="en-US" sz="1467" dirty="0"/>
          </a:p>
        </p:txBody>
      </p:sp>
      <p:sp>
        <p:nvSpPr>
          <p:cNvPr id="31" name="Shape 29"/>
          <p:cNvSpPr/>
          <p:nvPr/>
        </p:nvSpPr>
        <p:spPr>
          <a:xfrm>
            <a:off x="609600" y="5035296"/>
            <a:ext cx="5486400" cy="463296"/>
          </a:xfrm>
          <a:prstGeom prst="rect">
            <a:avLst/>
          </a:prstGeom>
          <a:solidFill>
            <a:srgbClr val="F0FAFA"/>
          </a:solidFill>
          <a:ln w="12700">
            <a:solidFill>
              <a:srgbClr val="CCE5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5035296"/>
            <a:ext cx="146304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2194560" y="5035296"/>
            <a:ext cx="17068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CharField</a:t>
            </a:r>
            <a:endParaRPr lang="en-US" sz="1467" dirty="0"/>
          </a:p>
        </p:txBody>
      </p:sp>
      <p:sp>
        <p:nvSpPr>
          <p:cNvPr id="34" name="Text 32"/>
          <p:cNvSpPr/>
          <p:nvPr/>
        </p:nvSpPr>
        <p:spPr>
          <a:xfrm>
            <a:off x="3901440" y="5035296"/>
            <a:ext cx="207264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4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pending/cooking/delivering/done</a:t>
            </a:r>
            <a:endParaRPr lang="en-US" sz="1467" dirty="0"/>
          </a:p>
        </p:txBody>
      </p:sp>
      <p:sp>
        <p:nvSpPr>
          <p:cNvPr id="35" name="Shape 33"/>
          <p:cNvSpPr/>
          <p:nvPr/>
        </p:nvSpPr>
        <p:spPr>
          <a:xfrm>
            <a:off x="609600" y="5498592"/>
            <a:ext cx="5486400" cy="463296"/>
          </a:xfrm>
          <a:prstGeom prst="rect">
            <a:avLst/>
          </a:prstGeom>
          <a:solidFill>
            <a:srgbClr val="FFFFFF"/>
          </a:solidFill>
          <a:ln w="12700">
            <a:solidFill>
              <a:srgbClr val="CCE5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5498592"/>
            <a:ext cx="146304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2194560" y="5498592"/>
            <a:ext cx="17068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DateTimeField</a:t>
            </a:r>
            <a:endParaRPr lang="en-US" sz="1467" dirty="0"/>
          </a:p>
        </p:txBody>
      </p:sp>
      <p:sp>
        <p:nvSpPr>
          <p:cNvPr id="38" name="Text 36"/>
          <p:cNvSpPr/>
          <p:nvPr/>
        </p:nvSpPr>
        <p:spPr>
          <a:xfrm>
            <a:off x="3901440" y="5498592"/>
            <a:ext cx="207264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4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timestamp</a:t>
            </a:r>
            <a:endParaRPr lang="en-US" sz="1467" dirty="0"/>
          </a:p>
        </p:txBody>
      </p:sp>
      <p:sp>
        <p:nvSpPr>
          <p:cNvPr id="39" name="Text 37"/>
          <p:cNvSpPr/>
          <p:nvPr/>
        </p:nvSpPr>
        <p:spPr>
          <a:xfrm>
            <a:off x="6583680" y="1524000"/>
            <a:ext cx="49987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 Flow</a:t>
            </a:r>
            <a:endParaRPr lang="en-US" sz="2133" dirty="0"/>
          </a:p>
        </p:txBody>
      </p:sp>
      <p:sp>
        <p:nvSpPr>
          <p:cNvPr id="40" name="Shape 38"/>
          <p:cNvSpPr/>
          <p:nvPr/>
        </p:nvSpPr>
        <p:spPr>
          <a:xfrm>
            <a:off x="6705600" y="2316480"/>
            <a:ext cx="4267200" cy="670560"/>
          </a:xfrm>
          <a:prstGeom prst="rect">
            <a:avLst/>
          </a:prstGeom>
          <a:solidFill>
            <a:srgbClr val="E8F5E9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705600" y="2316480"/>
            <a:ext cx="42672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2133" dirty="0"/>
          </a:p>
        </p:txBody>
      </p:sp>
      <p:sp>
        <p:nvSpPr>
          <p:cNvPr id="42" name="Shape 40"/>
          <p:cNvSpPr/>
          <p:nvPr/>
        </p:nvSpPr>
        <p:spPr>
          <a:xfrm>
            <a:off x="8839200" y="2987040"/>
            <a:ext cx="0" cy="365760"/>
          </a:xfrm>
          <a:prstGeom prst="line">
            <a:avLst/>
          </a:prstGeom>
          <a:noFill/>
          <a:ln w="25400">
            <a:solidFill>
              <a:srgbClr val="4A707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34400" y="3048000"/>
            <a:ext cx="609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4A7070"/>
                </a:solidFill>
              </a:rPr>
              <a:t>▼</a:t>
            </a:r>
            <a:endParaRPr lang="en-US" sz="1467" dirty="0"/>
          </a:p>
        </p:txBody>
      </p:sp>
      <p:sp>
        <p:nvSpPr>
          <p:cNvPr id="44" name="Shape 42"/>
          <p:cNvSpPr/>
          <p:nvPr/>
        </p:nvSpPr>
        <p:spPr>
          <a:xfrm>
            <a:off x="6705600" y="3352800"/>
            <a:ext cx="4267200" cy="670560"/>
          </a:xfrm>
          <a:prstGeom prst="rect">
            <a:avLst/>
          </a:prstGeom>
          <a:solidFill>
            <a:srgbClr val="FFF9C4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705600" y="3352800"/>
            <a:ext cx="42672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COOKING</a:t>
            </a:r>
            <a:endParaRPr lang="en-US" sz="2133" dirty="0"/>
          </a:p>
        </p:txBody>
      </p:sp>
      <p:sp>
        <p:nvSpPr>
          <p:cNvPr id="46" name="Shape 44"/>
          <p:cNvSpPr/>
          <p:nvPr/>
        </p:nvSpPr>
        <p:spPr>
          <a:xfrm>
            <a:off x="8839200" y="4023360"/>
            <a:ext cx="0" cy="365760"/>
          </a:xfrm>
          <a:prstGeom prst="line">
            <a:avLst/>
          </a:prstGeom>
          <a:noFill/>
          <a:ln w="25400">
            <a:solidFill>
              <a:srgbClr val="4A707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34400" y="4084320"/>
            <a:ext cx="609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4A7070"/>
                </a:solidFill>
              </a:rPr>
              <a:t>▼</a:t>
            </a:r>
            <a:endParaRPr lang="en-US" sz="1467" dirty="0"/>
          </a:p>
        </p:txBody>
      </p:sp>
      <p:sp>
        <p:nvSpPr>
          <p:cNvPr id="48" name="Shape 46"/>
          <p:cNvSpPr/>
          <p:nvPr/>
        </p:nvSpPr>
        <p:spPr>
          <a:xfrm>
            <a:off x="6705600" y="4389120"/>
            <a:ext cx="4267200" cy="670560"/>
          </a:xfrm>
          <a:prstGeom prst="rect">
            <a:avLst/>
          </a:prstGeom>
          <a:solidFill>
            <a:srgbClr val="E3F2FD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705600" y="4389120"/>
            <a:ext cx="42672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DELIVERING</a:t>
            </a:r>
            <a:endParaRPr lang="en-US" sz="2133" dirty="0"/>
          </a:p>
        </p:txBody>
      </p:sp>
      <p:sp>
        <p:nvSpPr>
          <p:cNvPr id="50" name="Shape 48"/>
          <p:cNvSpPr/>
          <p:nvPr/>
        </p:nvSpPr>
        <p:spPr>
          <a:xfrm>
            <a:off x="8839200" y="5059680"/>
            <a:ext cx="0" cy="365760"/>
          </a:xfrm>
          <a:prstGeom prst="line">
            <a:avLst/>
          </a:prstGeom>
          <a:noFill/>
          <a:ln w="25400">
            <a:solidFill>
              <a:srgbClr val="4A707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534400" y="5120640"/>
            <a:ext cx="6096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4A7070"/>
                </a:solidFill>
              </a:rPr>
              <a:t>▼</a:t>
            </a:r>
            <a:endParaRPr lang="en-US" sz="1467" dirty="0"/>
          </a:p>
        </p:txBody>
      </p:sp>
      <p:sp>
        <p:nvSpPr>
          <p:cNvPr id="52" name="Shape 50"/>
          <p:cNvSpPr/>
          <p:nvPr/>
        </p:nvSpPr>
        <p:spPr>
          <a:xfrm>
            <a:off x="6705600" y="5425440"/>
            <a:ext cx="4267200" cy="670560"/>
          </a:xfrm>
          <a:prstGeom prst="rect">
            <a:avLst/>
          </a:prstGeom>
          <a:solidFill>
            <a:srgbClr val="F3E5F5"/>
          </a:solidFill>
          <a:ln/>
          <a:effectLst>
            <a:outerShdw blurRad="381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6705600" y="5425440"/>
            <a:ext cx="426720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133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2133" dirty="0"/>
          </a:p>
        </p:txBody>
      </p:sp>
      <p:sp>
        <p:nvSpPr>
          <p:cNvPr id="54" name="Text 52"/>
          <p:cNvSpPr/>
          <p:nvPr/>
        </p:nvSpPr>
        <p:spPr>
          <a:xfrm>
            <a:off x="6583680" y="6278880"/>
            <a:ext cx="499872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i="1" dirty="0">
                <a:solidFill>
                  <a:srgbClr val="4A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is editable in Django Admin panel</a:t>
            </a:r>
            <a:endParaRPr lang="en-US" sz="146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41376"/>
            <a:ext cx="1097280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Functions</a:t>
            </a:r>
            <a:endParaRPr lang="en-US" sz="4267" dirty="0"/>
          </a:p>
        </p:txBody>
      </p:sp>
      <p:sp>
        <p:nvSpPr>
          <p:cNvPr id="3" name="Shape 1"/>
          <p:cNvSpPr/>
          <p:nvPr/>
        </p:nvSpPr>
        <p:spPr>
          <a:xfrm>
            <a:off x="609600" y="1219200"/>
            <a:ext cx="10972800" cy="487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7680" y="1402080"/>
            <a:ext cx="5486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Inline keyboard — menu</a:t>
            </a:r>
            <a:endParaRPr lang="en-US" sz="1733" dirty="0"/>
          </a:p>
        </p:txBody>
      </p:sp>
      <p:sp>
        <p:nvSpPr>
          <p:cNvPr id="5" name="Shape 3"/>
          <p:cNvSpPr/>
          <p:nvPr/>
        </p:nvSpPr>
        <p:spPr>
          <a:xfrm>
            <a:off x="487680" y="1840992"/>
            <a:ext cx="5486400" cy="2133600"/>
          </a:xfrm>
          <a:prstGeom prst="rect">
            <a:avLst/>
          </a:prstGeom>
          <a:solidFill>
            <a:srgbClr val="0D2020"/>
          </a:solidFill>
          <a:ln/>
        </p:spPr>
      </p:sp>
      <p:sp>
        <p:nvSpPr>
          <p:cNvPr id="6" name="Text 4"/>
          <p:cNvSpPr/>
          <p:nvPr/>
        </p:nvSpPr>
        <p:spPr>
          <a:xfrm>
            <a:off x="609600" y="1889760"/>
            <a:ext cx="52425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menu_markup():</a:t>
            </a:r>
            <a:endParaRPr lang="en-US" sz="1400" dirty="0"/>
          </a:p>
          <a:p>
            <a:r>
              <a:rPr lang="en-US" sz="14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markup = InlineKeyboardMarkup()</a:t>
            </a:r>
            <a:endParaRPr lang="en-US" sz="1400" dirty="0"/>
          </a:p>
          <a:p>
            <a:r>
              <a:rPr lang="en-US" sz="14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name, price in menu.items():</a:t>
            </a:r>
            <a:endParaRPr lang="en-US" sz="1400" dirty="0"/>
          </a:p>
          <a:p>
            <a:r>
              <a:rPr lang="en-US" sz="14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markup.add(InlineKeyboardButton(</a:t>
            </a:r>
            <a:endParaRPr lang="en-US" sz="1400" dirty="0"/>
          </a:p>
          <a:p>
            <a:r>
              <a:rPr lang="en-US" sz="14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f"➕ {name} — {price}₸",</a:t>
            </a:r>
            <a:endParaRPr lang="en-US" sz="1400" dirty="0"/>
          </a:p>
          <a:p>
            <a:r>
              <a:rPr lang="en-US" sz="14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callback_data=f"add_{name}"))</a:t>
            </a:r>
            <a:endParaRPr lang="en-US" sz="1400" dirty="0"/>
          </a:p>
          <a:p>
            <a:r>
              <a:rPr lang="en-US" sz="14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markup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0" y="1402080"/>
            <a:ext cx="5486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Save order to database</a:t>
            </a:r>
            <a:endParaRPr lang="en-US" sz="1733" dirty="0"/>
          </a:p>
        </p:txBody>
      </p:sp>
      <p:sp>
        <p:nvSpPr>
          <p:cNvPr id="8" name="Shape 6"/>
          <p:cNvSpPr/>
          <p:nvPr/>
        </p:nvSpPr>
        <p:spPr>
          <a:xfrm>
            <a:off x="6217920" y="1840992"/>
            <a:ext cx="5486400" cy="2133600"/>
          </a:xfrm>
          <a:prstGeom prst="rect">
            <a:avLst/>
          </a:prstGeom>
          <a:solidFill>
            <a:srgbClr val="0D2020"/>
          </a:solidFill>
          <a:ln/>
        </p:spPr>
      </p:sp>
      <p:sp>
        <p:nvSpPr>
          <p:cNvPr id="9" name="Text 7"/>
          <p:cNvSpPr/>
          <p:nvPr/>
        </p:nvSpPr>
        <p:spPr>
          <a:xfrm>
            <a:off x="6339840" y="1889760"/>
            <a:ext cx="52425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= Order.objects.create(</a:t>
            </a:r>
            <a:endParaRPr lang="en-US" sz="1400" dirty="0"/>
          </a:p>
          <a:p>
            <a:r>
              <a:rPr lang="en-US" sz="14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user_id=user_id,</a:t>
            </a:r>
            <a:endParaRPr lang="en-US" sz="1400" dirty="0"/>
          </a:p>
          <a:p>
            <a:r>
              <a:rPr lang="en-US" sz="14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username=message.from_user.username,</a:t>
            </a:r>
            <a:endParaRPr lang="en-US" sz="1400" dirty="0"/>
          </a:p>
          <a:p>
            <a:r>
              <a:rPr lang="en-US" sz="14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items=json.dumps(basket),</a:t>
            </a:r>
            <a:endParaRPr lang="en-US" sz="1400" dirty="0"/>
          </a:p>
          <a:p>
            <a:r>
              <a:rPr lang="en-US" sz="14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total=total,</a:t>
            </a:r>
            <a:endParaRPr lang="en-US" sz="1400" dirty="0"/>
          </a:p>
          <a:p>
            <a:r>
              <a:rPr lang="en-US" sz="14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address=address</a:t>
            </a:r>
            <a:endParaRPr lang="en-US" sz="1400" dirty="0"/>
          </a:p>
          <a:p>
            <a:r>
              <a:rPr lang="en-US" sz="14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7680" y="4023360"/>
            <a:ext cx="5486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State machine — address input</a:t>
            </a:r>
            <a:endParaRPr lang="en-US" sz="1733" dirty="0"/>
          </a:p>
        </p:txBody>
      </p:sp>
      <p:sp>
        <p:nvSpPr>
          <p:cNvPr id="11" name="Shape 9"/>
          <p:cNvSpPr/>
          <p:nvPr/>
        </p:nvSpPr>
        <p:spPr>
          <a:xfrm>
            <a:off x="487680" y="4462272"/>
            <a:ext cx="5486400" cy="2133600"/>
          </a:xfrm>
          <a:prstGeom prst="rect">
            <a:avLst/>
          </a:prstGeom>
          <a:solidFill>
            <a:srgbClr val="0D2020"/>
          </a:solidFill>
          <a:ln/>
        </p:spPr>
      </p:sp>
      <p:sp>
        <p:nvSpPr>
          <p:cNvPr id="12" name="Text 10"/>
          <p:cNvSpPr/>
          <p:nvPr/>
        </p:nvSpPr>
        <p:spPr>
          <a:xfrm>
            <a:off x="609600" y="4511040"/>
            <a:ext cx="52425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user_states[user_id] = {</a:t>
            </a:r>
            <a:endParaRPr lang="en-US" sz="1400" dirty="0"/>
          </a:p>
          <a:p>
            <a:r>
              <a:rPr lang="en-US" sz="14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"state": "waiting_address",</a:t>
            </a:r>
            <a:endParaRPr lang="en-US" sz="1400" dirty="0"/>
          </a:p>
          <a:p>
            <a:r>
              <a:rPr lang="en-US" sz="14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"chat_id": call.message.chat.id,</a:t>
            </a:r>
            <a:endParaRPr lang="en-US" sz="1400" dirty="0"/>
          </a:p>
          <a:p>
            <a:r>
              <a:rPr lang="en-US" sz="14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"message_id": call.message.message_id</a:t>
            </a:r>
            <a:endParaRPr lang="en-US" sz="1400" dirty="0"/>
          </a:p>
          <a:p>
            <a:r>
              <a:rPr lang="en-US" sz="14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17920" y="4023360"/>
            <a:ext cx="5486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D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Error handling — unknown input</a:t>
            </a:r>
            <a:endParaRPr lang="en-US" sz="1733" dirty="0"/>
          </a:p>
        </p:txBody>
      </p:sp>
      <p:sp>
        <p:nvSpPr>
          <p:cNvPr id="14" name="Shape 12"/>
          <p:cNvSpPr/>
          <p:nvPr/>
        </p:nvSpPr>
        <p:spPr>
          <a:xfrm>
            <a:off x="6217920" y="4462272"/>
            <a:ext cx="5486400" cy="2133600"/>
          </a:xfrm>
          <a:prstGeom prst="rect">
            <a:avLst/>
          </a:prstGeom>
          <a:solidFill>
            <a:srgbClr val="0D2020"/>
          </a:solidFill>
          <a:ln/>
        </p:spPr>
      </p:sp>
      <p:sp>
        <p:nvSpPr>
          <p:cNvPr id="15" name="Text 13"/>
          <p:cNvSpPr/>
          <p:nvPr/>
        </p:nvSpPr>
        <p:spPr>
          <a:xfrm>
            <a:off x="6339840" y="4511040"/>
            <a:ext cx="52425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400" dirty="0"/>
          </a:p>
          <a:p>
            <a:r>
              <a:rPr lang="en-US" sz="14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bot.reply_to(</a:t>
            </a:r>
            <a:endParaRPr lang="en-US" sz="1400" dirty="0"/>
          </a:p>
          <a:p>
            <a:r>
              <a:rPr lang="en-US" sz="14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message,</a:t>
            </a:r>
            <a:endParaRPr lang="en-US" sz="1400" dirty="0"/>
          </a:p>
          <a:p>
            <a:r>
              <a:rPr lang="en-US" sz="14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"🤖 I didn't understand that.\n"</a:t>
            </a:r>
            <a:endParaRPr lang="en-US" sz="1400" dirty="0"/>
          </a:p>
          <a:p>
            <a:r>
              <a:rPr lang="en-US" sz="14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"Use /start or menu buttons.",</a:t>
            </a:r>
            <a:endParaRPr lang="en-US" sz="1400" dirty="0"/>
          </a:p>
          <a:p>
            <a:r>
              <a:rPr lang="en-US" sz="14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reply_markup=main_menu_markup()</a:t>
            </a:r>
            <a:endParaRPr lang="en-US" sz="1400" dirty="0"/>
          </a:p>
          <a:p>
            <a:r>
              <a:rPr lang="en-US" sz="14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7680" y="426720"/>
            <a:ext cx="1121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0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5067" dirty="0"/>
          </a:p>
        </p:txBody>
      </p:sp>
      <p:sp>
        <p:nvSpPr>
          <p:cNvPr id="37" name="Shape 35"/>
          <p:cNvSpPr/>
          <p:nvPr/>
        </p:nvSpPr>
        <p:spPr>
          <a:xfrm>
            <a:off x="513218" y="1506301"/>
            <a:ext cx="3901440" cy="1402080"/>
          </a:xfrm>
          <a:prstGeom prst="rect">
            <a:avLst/>
          </a:prstGeom>
          <a:solidFill>
            <a:srgbClr val="0F3535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13218" y="1506301"/>
            <a:ext cx="3901440" cy="609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3218" y="1567261"/>
            <a:ext cx="1341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5067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5067" dirty="0"/>
          </a:p>
        </p:txBody>
      </p:sp>
      <p:sp>
        <p:nvSpPr>
          <p:cNvPr id="40" name="Text 38"/>
          <p:cNvSpPr/>
          <p:nvPr/>
        </p:nvSpPr>
        <p:spPr>
          <a:xfrm>
            <a:off x="1854338" y="1689181"/>
            <a:ext cx="243840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</a:t>
            </a:r>
            <a:endParaRPr lang="en-US" sz="1867" dirty="0"/>
          </a:p>
          <a:p>
            <a:r>
              <a:rPr lang="en-US" sz="18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handlers</a:t>
            </a:r>
            <a:endParaRPr lang="en-US" sz="1867" dirty="0"/>
          </a:p>
        </p:txBody>
      </p:sp>
      <p:sp>
        <p:nvSpPr>
          <p:cNvPr id="41" name="Shape 39"/>
          <p:cNvSpPr/>
          <p:nvPr/>
        </p:nvSpPr>
        <p:spPr>
          <a:xfrm>
            <a:off x="513218" y="3152221"/>
            <a:ext cx="3901440" cy="1402080"/>
          </a:xfrm>
          <a:prstGeom prst="rect">
            <a:avLst/>
          </a:prstGeom>
          <a:solidFill>
            <a:srgbClr val="0F3535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13218" y="3152221"/>
            <a:ext cx="3901440" cy="609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3218" y="3213181"/>
            <a:ext cx="1341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5067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5067" dirty="0"/>
          </a:p>
        </p:txBody>
      </p:sp>
      <p:sp>
        <p:nvSpPr>
          <p:cNvPr id="44" name="Text 42"/>
          <p:cNvSpPr/>
          <p:nvPr/>
        </p:nvSpPr>
        <p:spPr>
          <a:xfrm>
            <a:off x="1854338" y="3335101"/>
            <a:ext cx="243840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867" dirty="0"/>
          </a:p>
          <a:p>
            <a:r>
              <a:rPr lang="en-US" sz="18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</a:t>
            </a:r>
            <a:endParaRPr lang="en-US" sz="1867" dirty="0"/>
          </a:p>
        </p:txBody>
      </p:sp>
      <p:sp>
        <p:nvSpPr>
          <p:cNvPr id="45" name="Shape 43"/>
          <p:cNvSpPr/>
          <p:nvPr/>
        </p:nvSpPr>
        <p:spPr>
          <a:xfrm>
            <a:off x="513218" y="4798141"/>
            <a:ext cx="3901440" cy="1402080"/>
          </a:xfrm>
          <a:prstGeom prst="rect">
            <a:avLst/>
          </a:prstGeom>
          <a:solidFill>
            <a:srgbClr val="0F3535"/>
          </a:solidFill>
          <a:ln/>
          <a:effectLst>
            <a:outerShdw blurRad="889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13218" y="4798141"/>
            <a:ext cx="3901440" cy="609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3218" y="4859101"/>
            <a:ext cx="1341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5067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5067" dirty="0"/>
          </a:p>
        </p:txBody>
      </p:sp>
      <p:sp>
        <p:nvSpPr>
          <p:cNvPr id="48" name="Text 46"/>
          <p:cNvSpPr/>
          <p:nvPr/>
        </p:nvSpPr>
        <p:spPr>
          <a:xfrm>
            <a:off x="1854338" y="4981021"/>
            <a:ext cx="243840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867" dirty="0"/>
          </a:p>
          <a:p>
            <a:r>
              <a:rPr lang="en-US" sz="18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statuses</a:t>
            </a:r>
            <a:endParaRPr lang="en-US" sz="1867" dirty="0"/>
          </a:p>
        </p:txBody>
      </p:sp>
      <p:sp>
        <p:nvSpPr>
          <p:cNvPr id="49" name="Text 47"/>
          <p:cNvSpPr/>
          <p:nvPr/>
        </p:nvSpPr>
        <p:spPr>
          <a:xfrm>
            <a:off x="2815958" y="3215640"/>
            <a:ext cx="1121664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400" i="1" dirty="0">
                <a:solidFill>
                  <a:schemeClr val="bg1"/>
                </a:solidFill>
                <a:latin typeface="Bauhaus 93" panose="04030905020B02020C02" pitchFamily="82" charset="0"/>
                <a:ea typeface="Calibri" pitchFamily="34" charset="-122"/>
                <a:cs typeface="Calibri" pitchFamily="34" charset="-120"/>
              </a:rPr>
              <a:t>Thank you for your attention!</a:t>
            </a:r>
            <a:endParaRPr lang="en-US" sz="4400" dirty="0">
              <a:solidFill>
                <a:schemeClr val="bg1"/>
              </a:solidFill>
              <a:latin typeface="Bauhaus 93" panose="04030905020B02020C02" pitchFamily="82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064219-2BD6-DB42-63CE-D6DC19930FB8}"/>
              </a:ext>
            </a:extLst>
          </p:cNvPr>
          <p:cNvSpPr txBox="1"/>
          <p:nvPr/>
        </p:nvSpPr>
        <p:spPr>
          <a:xfrm>
            <a:off x="3504217" y="331260"/>
            <a:ext cx="62808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Sources/References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5F24D2-34BC-A20D-46CF-BF8F82BB5946}"/>
              </a:ext>
            </a:extLst>
          </p:cNvPr>
          <p:cNvSpPr txBox="1"/>
          <p:nvPr/>
        </p:nvSpPr>
        <p:spPr>
          <a:xfrm flipH="1">
            <a:off x="726437" y="1588977"/>
            <a:ext cx="11465562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1.Telegram Bot API Documentation</a:t>
            </a:r>
          </a:p>
          <a:p>
            <a:r>
              <a:rPr lang="en-US" sz="1600" dirty="0">
                <a:solidFill>
                  <a:schemeClr val="bg1"/>
                </a:solidFill>
              </a:rPr>
              <a:t>​​URL: </a:t>
            </a:r>
            <a:r>
              <a:rPr lang="en-US" sz="1600" dirty="0">
                <a:solidFill>
                  <a:schemeClr val="bg1"/>
                </a:solidFill>
                <a:hlinkClick r:id="rId2"/>
              </a:rPr>
              <a:t>https://core.telegram.org/bots/api</a:t>
            </a:r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HTTP-based interface, webhook mechanics, </a:t>
            </a:r>
            <a:r>
              <a:rPr lang="en-US" sz="1600" dirty="0" err="1">
                <a:solidFill>
                  <a:schemeClr val="bg1"/>
                </a:solidFill>
              </a:rPr>
              <a:t>InlineKeyboardMarkup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objects,callback</a:t>
            </a:r>
            <a:r>
              <a:rPr lang="en-US" sz="1600" dirty="0">
                <a:solidFill>
                  <a:schemeClr val="bg1"/>
                </a:solidFill>
              </a:rPr>
              <a:t> query handling.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​2.Django Web Framework &amp; Object-Relational Mapping (ORM)</a:t>
            </a:r>
          </a:p>
          <a:p>
            <a:r>
              <a:rPr lang="en-US" sz="1600" dirty="0">
                <a:solidFill>
                  <a:schemeClr val="bg1"/>
                </a:solidFill>
              </a:rPr>
              <a:t>​​URL: </a:t>
            </a:r>
            <a:r>
              <a:rPr lang="en-US" sz="1600" dirty="0">
                <a:solidFill>
                  <a:schemeClr val="bg1"/>
                </a:solidFill>
                <a:hlinkClick r:id="rId3"/>
              </a:rPr>
              <a:t>https://www.djangoproject.com/</a:t>
            </a:r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Database modeling, handling asynchronous object creation (</a:t>
            </a:r>
            <a:r>
              <a:rPr lang="en-US" sz="1600" dirty="0" err="1">
                <a:solidFill>
                  <a:schemeClr val="bg1"/>
                </a:solidFill>
              </a:rPr>
              <a:t>Order.objects.create</a:t>
            </a:r>
            <a:endParaRPr lang="en-US" sz="1600" dirty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​3.Academic Course Lectures (Lectures 7-14)</a:t>
            </a:r>
          </a:p>
          <a:p>
            <a:r>
              <a:rPr lang="en-US" sz="1600" dirty="0">
                <a:solidFill>
                  <a:schemeClr val="bg1"/>
                </a:solidFill>
              </a:rPr>
              <a:t>​Author / Lecturer: Saya </a:t>
            </a:r>
            <a:r>
              <a:rPr lang="en-US" sz="1600" dirty="0" err="1">
                <a:solidFill>
                  <a:schemeClr val="bg1"/>
                </a:solidFill>
              </a:rPr>
              <a:t>Sapakova</a:t>
            </a:r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​Course: Programming in Python, International IT University (IITU).</a:t>
            </a:r>
          </a:p>
          <a:p>
            <a:r>
              <a:rPr lang="en-US" sz="1600" dirty="0">
                <a:solidFill>
                  <a:schemeClr val="bg1"/>
                </a:solidFill>
              </a:rPr>
              <a:t>Provided foundational principles for multi-paradigm programming in Python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4.pyTelegramBotAPI (</a:t>
            </a:r>
            <a:r>
              <a:rPr lang="en-US" sz="1600" dirty="0" err="1">
                <a:solidFill>
                  <a:schemeClr val="bg1"/>
                </a:solidFill>
              </a:rPr>
              <a:t>Telebot</a:t>
            </a:r>
            <a:r>
              <a:rPr lang="en-US" sz="1600" dirty="0">
                <a:solidFill>
                  <a:schemeClr val="bg1"/>
                </a:solidFill>
              </a:rPr>
              <a:t>)</a:t>
            </a:r>
          </a:p>
          <a:p>
            <a:r>
              <a:rPr lang="en-US" sz="1600" dirty="0">
                <a:solidFill>
                  <a:schemeClr val="bg1"/>
                </a:solidFill>
              </a:rPr>
              <a:t>​​URL: </a:t>
            </a:r>
            <a:r>
              <a:rPr lang="en-US" sz="1600" dirty="0">
                <a:solidFill>
                  <a:schemeClr val="bg1"/>
                </a:solidFill>
                <a:hlinkClick r:id="rId4"/>
              </a:rPr>
              <a:t>https://github.com/eternnoir/pyTelegramBotAPI</a:t>
            </a:r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Python implementation used to establish the main bot client and handle continuous server polling (</a:t>
            </a:r>
            <a:r>
              <a:rPr lang="en-US" sz="1600" dirty="0" err="1">
                <a:solidFill>
                  <a:schemeClr val="bg1"/>
                </a:solidFill>
              </a:rPr>
              <a:t>infinity_polling</a:t>
            </a:r>
            <a:r>
              <a:rPr lang="en-US" sz="1600" dirty="0">
                <a:solidFill>
                  <a:schemeClr val="bg1"/>
                </a:solidFill>
              </a:rPr>
              <a:t>).</a:t>
            </a:r>
            <a:endParaRPr lang="ru-RU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690497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928</Words>
  <Application>Microsoft Office PowerPoint</Application>
  <PresentationFormat>Широкоэкранный</PresentationFormat>
  <Paragraphs>189</Paragraphs>
  <Slides>10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Bauhaus 93</vt:lpstr>
      <vt:lpstr>Calibri</vt:lpstr>
      <vt:lpstr>Calibri Light</vt:lpstr>
      <vt:lpstr>Consolas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Danial Katkabaev</dc:creator>
  <cp:lastModifiedBy>Danial Katkabaev</cp:lastModifiedBy>
  <cp:revision>1</cp:revision>
  <dcterms:created xsi:type="dcterms:W3CDTF">2026-05-20T03:44:58Z</dcterms:created>
  <dcterms:modified xsi:type="dcterms:W3CDTF">2026-05-20T05:41:28Z</dcterms:modified>
</cp:coreProperties>
</file>